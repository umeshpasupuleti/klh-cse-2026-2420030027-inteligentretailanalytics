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Lora" pitchFamily="2" charset="0"/>
      <p:regular r:id="rId14"/>
    </p:embeddedFont>
    <p:embeddedFont>
      <p:font typeface="Lor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107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9294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ConsumerIQ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48532"/>
            <a:ext cx="4722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AI-Powered Consumer Purchase Behavior Analytics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3925119" y="339529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/>
              <a:t>BATCH – 19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/>
              <a:t>2420030500 - P Aashish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/>
              <a:t>2420030027 – P Umesh </a:t>
            </a:r>
          </a:p>
        </p:txBody>
      </p:sp>
      <p:sp>
        <p:nvSpPr>
          <p:cNvPr id="6" name="Shape 3"/>
          <p:cNvSpPr/>
          <p:nvPr/>
        </p:nvSpPr>
        <p:spPr>
          <a:xfrm>
            <a:off x="3925119" y="4235202"/>
            <a:ext cx="1461790" cy="215354"/>
          </a:xfrm>
          <a:prstGeom prst="roundRect">
            <a:avLst>
              <a:gd name="adj" fmla="val 7900"/>
            </a:avLst>
          </a:prstGeom>
          <a:solidFill>
            <a:srgbClr val="D7F4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010174" y="4277692"/>
            <a:ext cx="17488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CONSUMER ANALYTICS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457751" y="4235202"/>
            <a:ext cx="1197918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542806" y="4277692"/>
            <a:ext cx="14850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RETAIL ANALYTICS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26510" y="4235202"/>
            <a:ext cx="1603772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811566" y="4277692"/>
            <a:ext cx="18908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E-COMMERCE ANALYTICS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6931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Problem: Fragmented Consumer Analytics</a:t>
            </a:r>
            <a:endParaRPr lang="en-US" sz="2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424434"/>
            <a:ext cx="4722763" cy="1143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24995" y="1567160"/>
            <a:ext cx="43801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Siloed Data Sources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124995" y="1837655"/>
            <a:ext cx="4380161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Retail and e-commerce platforms generate vast transaction, demographic, product, and behavioral data — but organizations analyze these sources independently.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84562"/>
            <a:ext cx="4722763" cy="9478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4995" y="2827288"/>
            <a:ext cx="43801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Task-Specific Approaches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124995" y="3097783"/>
            <a:ext cx="43801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Existing research addresses segmentation, churn, CLV, or purchase prediction separately — rarely as an integrated framework.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748757"/>
            <a:ext cx="4722763" cy="9478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24995" y="3891483"/>
            <a:ext cx="438016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Lack of Actionable Output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124995" y="4161979"/>
            <a:ext cx="438016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Insights are often buried in model metrics rather than presented through understandable, interactive visualizations for business decision-makers.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ConsumerIQ: The Solution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ConsumerIQ addresses the research gap by integrating consumer transaction and behavioral data with AI/ML techniques and interactive visualization to generate actionable consumer insights.</a:t>
            </a:r>
            <a:endParaRPr lang="en-US" sz="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24" y="807021"/>
            <a:ext cx="7867352" cy="38455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3942" y="2130152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Integration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71158" y="1249781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Segmentation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75856" y="3059433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Behavior Prediction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30616" y="3956107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Explainable Viz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69240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unified framework combining multiple consumer datasets, customer segmentation, purchasing pattern identification, behavior prediction, and interactive dashboards.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07124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Primary Objective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223120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 an AI-powered analytics framework for analyzing, predicting, and visualizing consumer purchase behavior using machine learning techniques.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2460799"/>
            <a:ext cx="3986733" cy="9525"/>
          </a:xfrm>
          <a:prstGeom prst="roundRect">
            <a:avLst>
              <a:gd name="adj" fmla="val 50000"/>
            </a:avLst>
          </a:prstGeom>
          <a:solidFill>
            <a:srgbClr val="2C2821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6119" y="2530897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Specific Objectives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96119" y="2682776"/>
            <a:ext cx="3986733" cy="698897"/>
          </a:xfrm>
          <a:prstGeom prst="rect">
            <a:avLst/>
          </a:prstGeom>
          <a:noFill/>
          <a:ln/>
        </p:spPr>
        <p:txBody>
          <a:bodyPr wrap="square" lIns="0" tIns="2924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 transaction, demographic, product, and behavioral datasets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Segment customers via RFM analysis and clustering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Identify product associations through market basket analysis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Predict purchase likelihood, churn risk, and customer lifetime value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Apply explainable AI (SHAP/LIME) to interpret predictions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interactive dashboards for consumer insights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Compare and evaluate multiple ML approaches</a:t>
            </a:r>
            <a:endParaRPr lang="en-US" sz="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3983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Literature Survey: Segmentation &amp; Profiling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496119" y="1491779"/>
            <a:ext cx="2294855" cy="2083147"/>
          </a:xfrm>
          <a:prstGeom prst="roundRect">
            <a:avLst>
              <a:gd name="adj" fmla="val 989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33413" y="1629073"/>
            <a:ext cx="20202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Salminen et al., 2023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3413" y="1923380"/>
            <a:ext cx="202026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Reviewed 172 articles; K-means most used. </a:t>
            </a:r>
            <a:r>
              <a:rPr lang="en-US" sz="10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Focuses on segmentation only, not integrated analytics.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23952" y="1491779"/>
            <a:ext cx="2294930" cy="2083147"/>
          </a:xfrm>
          <a:prstGeom prst="roundRect">
            <a:avLst>
              <a:gd name="adj" fmla="val 989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061246" y="1629073"/>
            <a:ext cx="20203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Gomes &amp; Meisen, 2023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61246" y="1923380"/>
            <a:ext cx="2020342" cy="15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Four-stage targeting: data collection → representation → analysis → targeting. RFM + K-means widely used. </a:t>
            </a:r>
            <a:r>
              <a:rPr lang="en-US" sz="10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Limited integration of behavioral representation, prediction, and explainability.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19" y="3707904"/>
            <a:ext cx="4722763" cy="1001539"/>
          </a:xfrm>
          <a:prstGeom prst="roundRect">
            <a:avLst>
              <a:gd name="adj" fmla="val 205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33413" y="3845198"/>
            <a:ext cx="44481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Kasem et al., 2024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3413" y="4139505"/>
            <a:ext cx="4448175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Combines RFM, K-means, and AI for customer profiling and sales prediction. </a:t>
            </a:r>
            <a:r>
              <a:rPr lang="en-US" sz="10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No broader multi-dataset analytics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585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Literature Survey: Prediction &amp; CLV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06140"/>
            <a:ext cx="2691557" cy="8849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03" y="1253058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91195" y="1022300"/>
            <a:ext cx="208032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Yan &amp; Resnick, 2024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91195" y="1254770"/>
            <a:ext cx="2080320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Scalable CLV system across 12 retail brands using embeddings, Random Forest, and ensemble learning. </a:t>
            </a:r>
            <a:r>
              <a:rPr lang="en-US" sz="8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CLV-only focus.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64296"/>
            <a:ext cx="2691557" cy="8849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803" y="221121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91195" y="1980456"/>
            <a:ext cx="208032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Kvíčala et al., 2024/26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991195" y="2212925"/>
            <a:ext cx="2080320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Online behavior impact on CLV; identifies targeting variables. </a:t>
            </a:r>
            <a:r>
              <a:rPr lang="en-US" sz="8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Limited predictive/visual integration.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822451"/>
            <a:ext cx="2691557" cy="8849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7803" y="3169369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91195" y="2938611"/>
            <a:ext cx="208032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Ehsani &amp; Hosseini, 2024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991195" y="3171081"/>
            <a:ext cx="2080320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 prediction from clickstream using Oracle meta-classifier. </a:t>
            </a:r>
            <a:r>
              <a:rPr lang="en-US" sz="8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Prediction-only, no segmentation.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780606"/>
            <a:ext cx="2691557" cy="8849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7803" y="4127525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991195" y="3896767"/>
            <a:ext cx="208032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Mena et al., 2024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91195" y="4129236"/>
            <a:ext cx="2080320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Time-varying RFM + deep neural networks for churn. </a:t>
            </a:r>
            <a:r>
              <a:rPr lang="en-US" sz="8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Churn-centric, no integrated framework.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981" y="1309241"/>
            <a:ext cx="5211589" cy="29531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61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Literature Survey: Behavior, Churn &amp; Retention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2692"/>
            <a:ext cx="1143595" cy="706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566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Liu et al., 2024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963168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ML vs. deep learning (RNN/LSTM) for purchase prediction. </a:t>
            </a: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No segmentation or visual analytics lifecycle.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772692"/>
            <a:ext cx="1143595" cy="706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6566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Sagming et al., 2024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96316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Topological data analysis + ML for churn; barcode stats improve accuracy. </a:t>
            </a: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Specialized to churn only.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772692"/>
            <a:ext cx="1143595" cy="7067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6566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Jahan &amp; Sanam, 2024/26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963168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Combines churn prediction, segmentation, and recommendation in one framework. </a:t>
            </a: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Most relevant prior work.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Gap: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Limited explainability and multi-dataset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Research Gaps Identified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507307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Core Opportunity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659187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Recent literature points toward </a:t>
            </a:r>
            <a:r>
              <a:rPr lang="en-US" sz="5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separate methodological approaches</a:t>
            </a:r>
            <a:r>
              <a:rPr lang="en-US" sz="5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for segmentation, targeting, prediction, and CLV. ConsumerIQ addresses this by unifying these tasks in a single, explainable, multi-dataset analytics pipeline with interactive decision support.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685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ConsumerIQ Innovations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083022"/>
            <a:ext cx="2636937" cy="1853580"/>
          </a:xfrm>
          <a:prstGeom prst="roundRect">
            <a:avLst>
              <a:gd name="adj" fmla="val 105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6790" y="1213693"/>
            <a:ext cx="392013" cy="392013"/>
          </a:xfrm>
          <a:prstGeom prst="ellipse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616" y="1321445"/>
            <a:ext cx="176361" cy="1763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790" y="1726183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Multi-Dataset Analytics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6790" y="2002557"/>
            <a:ext cx="2375595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Integrates multiple benchmark datasets capturing demographics, transactions, products, and behavior.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53532" y="1083022"/>
            <a:ext cx="2636937" cy="1853580"/>
          </a:xfrm>
          <a:prstGeom prst="roundRect">
            <a:avLst>
              <a:gd name="adj" fmla="val 105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384203" y="1213693"/>
            <a:ext cx="392013" cy="392013"/>
          </a:xfrm>
          <a:prstGeom prst="ellipse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029" y="1321445"/>
            <a:ext cx="176361" cy="1763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4203" y="1726183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Unified Pipeline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384203" y="2002557"/>
            <a:ext cx="2375595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EDA → RFM → Segmentation → Market Basket → Prediction → Explainability → Visualization in one framework.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10945" y="1083022"/>
            <a:ext cx="2636937" cy="1853580"/>
          </a:xfrm>
          <a:prstGeom prst="roundRect">
            <a:avLst>
              <a:gd name="adj" fmla="val 105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6141616" y="1213693"/>
            <a:ext cx="392013" cy="392013"/>
          </a:xfrm>
          <a:prstGeom prst="ellipse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9442" y="1321445"/>
            <a:ext cx="176361" cy="1763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41616" y="1726183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Explainable Intelligence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141616" y="2002557"/>
            <a:ext cx="2375595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SHAP/LIME explains why a customer is high-value, likely to purchase, or at churn risk.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96119" y="3057079"/>
            <a:ext cx="4015606" cy="1652736"/>
          </a:xfrm>
          <a:prstGeom prst="roundRect">
            <a:avLst>
              <a:gd name="adj" fmla="val 1186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26790" y="3187750"/>
            <a:ext cx="392013" cy="392013"/>
          </a:xfrm>
          <a:prstGeom prst="ellipse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616" y="3295501"/>
            <a:ext cx="176361" cy="1763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6790" y="3700239"/>
            <a:ext cx="375426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Action-Oriented Insights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26790" y="3976613"/>
            <a:ext cx="3754264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Translates predictions into business guidance — e.g., "High-frequency, high-value customers should receive loyalty campaigns."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632201" y="3057079"/>
            <a:ext cx="4015680" cy="1652736"/>
          </a:xfrm>
          <a:prstGeom prst="roundRect">
            <a:avLst>
              <a:gd name="adj" fmla="val 1186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4762872" y="3187750"/>
            <a:ext cx="392013" cy="392013"/>
          </a:xfrm>
          <a:prstGeom prst="ellipse">
            <a:avLst/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0698" y="3295501"/>
            <a:ext cx="176361" cy="1763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62872" y="3700239"/>
            <a:ext cx="375433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Interactive Visualization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762872" y="3976613"/>
            <a:ext cx="375433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to explore segments, spending patterns, product associations, trends, CLV, and model explanations.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31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ConsumerIQ: What Sets It Apart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839242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From Fragmented to Unified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195834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Where prior work isolates segmentation, churn, CLV, or prediction, ConsumerIQ delivers a </a:t>
            </a:r>
            <a:r>
              <a:rPr lang="en-US" sz="95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single integrated framework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combining multi-dataset integration, explainable AI, and interactive dashboards.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720900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2C2821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6119" y="1928887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Differentiators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285479"/>
            <a:ext cx="8151763" cy="1081980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Multi-dataset consumer behavior integration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 analytics lifecycle in one system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SHAP/LIME explainability for business users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Interactive dashboard for exploration and decisions</a:t>
            </a:r>
            <a:endParaRPr lang="en-US" sz="950" dirty="0"/>
          </a:p>
          <a:p>
            <a:pPr marL="193040" indent="-19304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Cross-dataset validation for consistent insights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119" y="3551486"/>
            <a:ext cx="26268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6119" y="4104159"/>
            <a:ext cx="26268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Papers Reviewed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119" y="4363120"/>
            <a:ext cx="26268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Springer-published studies across segmentation, CLV, churn, and prediction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58592" y="3551486"/>
            <a:ext cx="26268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58592" y="4104159"/>
            <a:ext cx="26268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Research Gaps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58592" y="4363120"/>
            <a:ext cx="26268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Fragmented analytics, limited explainability, no unified pipeline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21065" y="3551486"/>
            <a:ext cx="26268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21065" y="4104159"/>
            <a:ext cx="26268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Innovations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21065" y="4363120"/>
            <a:ext cx="26268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Multi-dataset, unified pipeline, XAI, actionable insights, interactive dashboard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798</Words>
  <Application>Microsoft Office PowerPoint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 Bold</vt:lpstr>
      <vt:lpstr>Alice</vt:lpstr>
      <vt:lpstr>Lora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 UMESH 2420030027</cp:lastModifiedBy>
  <cp:revision>2</cp:revision>
  <dcterms:created xsi:type="dcterms:W3CDTF">2026-08-12T05:39:19Z</dcterms:created>
  <dcterms:modified xsi:type="dcterms:W3CDTF">2026-08-12T06:05:31Z</dcterms:modified>
</cp:coreProperties>
</file>